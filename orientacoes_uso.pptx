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3" r:id="rId2"/>
    <p:sldId id="266" r:id="rId3"/>
    <p:sldId id="264" r:id="rId4"/>
    <p:sldId id="265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6"/>
  </p:normalViewPr>
  <p:slideViewPr>
    <p:cSldViewPr snapToGrid="0">
      <p:cViewPr varScale="1">
        <p:scale>
          <a:sx n="106" d="100"/>
          <a:sy n="106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C24D7-C6E7-5F4E-AB6E-A123FA0211A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9EF6B-C787-AC47-8429-AD2EDAA9C8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6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9EF6B-C787-AC47-8429-AD2EDAA9C82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946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9EF6B-C787-AC47-8429-AD2EDAA9C82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539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9EF6B-C787-AC47-8429-AD2EDAA9C82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837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5B28-3CC8-2B4B-C190-DF04687E8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263BC-2529-C3F2-4E29-9769B0DC0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6C8AD-9A91-95AB-1E8D-2D089B3E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58D64-99E7-5248-8552-3C2EBA5D96AC}" type="datetime1">
              <a:rPr lang="en-US" smtClean="0"/>
              <a:t>3/7/26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193C1-C94A-73DA-31E7-7AA07655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8BAE9-FA0B-C84B-4AE5-926F325F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67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8648-AEA9-0BAB-1998-1D0200CE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950D5-FC6B-2BA3-0F87-9BF498743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C4808-E499-2131-0B06-EEACFB585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6964-C474-2B42-A162-45452E859621}" type="datetime1">
              <a:rPr lang="en-US" smtClean="0"/>
              <a:t>3/7/26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51AF6-0F2D-130D-2A92-22385920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434CB-EA44-D6D9-03B4-BB87B5A0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6511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6657-A37A-2A09-98BE-15BCACC4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468D3-DC98-D6E2-7EE7-E976D4563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8B8E5-2F7F-7CE6-7871-A97EFCC5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7809-F3B1-FB43-9918-5C71096EB586}" type="datetime1">
              <a:rPr lang="en-US" smtClean="0"/>
              <a:t>3/7/26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BC669-CF4B-FFB2-3D1C-5BF0EEF8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5C408-C00B-DD1D-C0CD-672E0EED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917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646D4-1CA2-8F23-BED5-A292B0D2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26DFA-BB59-F480-E70B-C38E3D23D8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5233E-9E1A-B6C6-4503-8FE4BC68C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1BCA6-691B-2BDC-F6FE-0F9C9A5AF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4383C-A2DC-4B42-8D31-9573E1DDF7FC}" type="datetime1">
              <a:rPr lang="en-US" smtClean="0"/>
              <a:t>3/7/26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83E58-7E50-57ED-D0B2-94568461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3B292-A309-07B0-A34F-14311DA8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362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B29A-5FB2-AB41-7878-EAEB5A44F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62294-79DA-69B1-933A-930B2934E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2F8C3-57AE-C402-35E5-0B321C9A3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7BE76-9333-F713-100C-ED73ABE0A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7A5EB-1C28-4071-F4C6-FADDA76DE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9C174-815A-E89E-1F20-2D5C8B14A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A81B-826B-A242-9DDB-9C4BEA3C4EC7}" type="datetime1">
              <a:rPr lang="en-US" smtClean="0"/>
              <a:t>3/7/26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F94AE-BD77-EA51-36EF-8B78E37AD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476FA-825A-F4E9-8764-770BCC17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00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4E200-8931-9BEE-DA86-EF25D178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2A061-EEF5-3C8D-0282-3947A634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398C-059E-8B48-9130-8D1673C65E5A}" type="datetime1">
              <a:rPr lang="en-US" smtClean="0"/>
              <a:t>3/7/26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E51C4-172E-3886-4E7F-7A240A527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7CD9F-9EC9-B8B3-AE15-FC948904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24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4CE8B-ACAB-C491-84E7-8E6F63FB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0E51-B3E1-2C49-BDA9-9223DE2F28D6}" type="datetime1">
              <a:rPr lang="en-US" smtClean="0"/>
              <a:t>3/7/26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3EFA8-65BD-325A-CFD8-09BED71C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5522A-6186-E274-8EB5-2DD8FA15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98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8B25-B83C-BB68-646F-FE19A3F92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73AED-9818-FE13-7A79-B60EF8DFF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A194E-5489-C7AD-5384-E28D99796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A2491-2C15-4F5B-1E0B-3482943D0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CE54B-E32A-8B4D-8D91-4B66BBBCDF03}" type="datetime1">
              <a:rPr lang="en-US" smtClean="0"/>
              <a:t>3/7/26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38433-1EED-299B-F3E7-EC2D77F6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FD931-663A-FB9C-0270-471D18AD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878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E0CA-BD66-F0D4-10BC-BD743B2E1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D27EFF-E22F-DC84-69B1-2E8CD75F4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5A2F9-25C7-0175-AE54-049554768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3D8FE-6991-9EFC-DB7C-92B2D0E4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D7DE-3FEE-EE43-8121-31E6E009E3BE}" type="datetime1">
              <a:rPr lang="en-US" smtClean="0"/>
              <a:t>3/7/26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9E873-1C49-A1BC-0565-908FF6E3D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79456-C5B2-AC88-3209-483B96B8C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65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0E82-2160-51A7-1AEF-75C20E19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19CF5-3AB8-6CB9-14C1-A2B92C373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1A01F-5294-81B6-9DAB-585FBCDF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40056-B100-D04E-BCA2-61CE981451C6}" type="datetime1">
              <a:rPr lang="en-US" smtClean="0"/>
              <a:t>3/7/26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F0F39-A3AA-0F0E-3239-3FCD1F6E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ABCA9-9BD2-C4B8-817A-3B232ED6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164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273A5B-E4F1-DAA8-D271-1EB7859AE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AC2C3-5FA5-AA07-B396-FD9769617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7C5A5-18FC-2B05-26FC-B5E12ADBD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A755-7FBA-1349-8DE7-E957990A2849}" type="datetime1">
              <a:rPr lang="en-US" smtClean="0"/>
              <a:t>3/7/26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EE661-5F2D-EC13-9CD4-876FBEC9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D39E8-30B2-95D3-D507-B4FF1B20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509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FE1F0-9A27-69E4-2A15-DAE2F17D1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20D9F-50F7-884C-DE1B-A135C4F46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8896C-01AE-67C9-634A-C51E88285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5BA43-A28A-524B-A40D-0ECE4A91606D}" type="datetime1">
              <a:rPr lang="en-US" smtClean="0"/>
              <a:t>3/7/26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AD262-21A7-8525-3819-D7F099246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F5BB3-4C6B-B572-1B9E-A5E12B617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BA31E-AEA3-3249-80D4-38AF39D725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34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lattes.cnpq.br/4218279548869478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C5AAB8-26C4-C0FF-4C2C-F44AD786E453}"/>
              </a:ext>
            </a:extLst>
          </p:cNvPr>
          <p:cNvSpPr txBox="1">
            <a:spLocks/>
          </p:cNvSpPr>
          <p:nvPr/>
        </p:nvSpPr>
        <p:spPr>
          <a:xfrm>
            <a:off x="335953" y="2611975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00B0F0"/>
                </a:solidFill>
              </a:rPr>
              <a:t>Aplicativo</a:t>
            </a:r>
            <a:r>
              <a:rPr lang="en-US" sz="3200" b="1" dirty="0">
                <a:solidFill>
                  <a:srgbClr val="00B0F0"/>
                </a:solidFill>
              </a:rPr>
              <a:t> para </a:t>
            </a:r>
            <a:r>
              <a:rPr lang="en-US" sz="3200" b="1" dirty="0" err="1">
                <a:solidFill>
                  <a:srgbClr val="00B0F0"/>
                </a:solidFill>
              </a:rPr>
              <a:t>Corrigir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Gabarito</a:t>
            </a:r>
            <a:r>
              <a:rPr lang="en-US" sz="3200" b="1" dirty="0">
                <a:solidFill>
                  <a:srgbClr val="00B0F0"/>
                </a:solidFill>
              </a:rPr>
              <a:t> de </a:t>
            </a:r>
            <a:r>
              <a:rPr lang="en-US" sz="3200" b="1" dirty="0" err="1">
                <a:solidFill>
                  <a:srgbClr val="00B0F0"/>
                </a:solidFill>
              </a:rPr>
              <a:t>Provas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Objetivas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C5AF52-1598-AFA3-6295-2B7C3B9741E6}"/>
              </a:ext>
            </a:extLst>
          </p:cNvPr>
          <p:cNvSpPr txBox="1">
            <a:spLocks/>
          </p:cNvSpPr>
          <p:nvPr/>
        </p:nvSpPr>
        <p:spPr>
          <a:xfrm>
            <a:off x="490537" y="4544389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/>
              <a:t>Autor: Raphael da Silva Alvim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0CFB81-89F2-7C5C-776B-52588CE87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1</a:t>
            </a:fld>
            <a:endParaRPr lang="pt-BR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1308AD0-EFE8-9DFC-2AE4-CCFF5887E563}"/>
              </a:ext>
            </a:extLst>
          </p:cNvPr>
          <p:cNvSpPr txBox="1">
            <a:spLocks/>
          </p:cNvSpPr>
          <p:nvPr/>
        </p:nvSpPr>
        <p:spPr>
          <a:xfrm>
            <a:off x="490536" y="5289225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/>
              <a:t>Currículo</a:t>
            </a:r>
            <a:r>
              <a:rPr lang="en-US" sz="3200" b="1" dirty="0"/>
              <a:t>: </a:t>
            </a:r>
            <a:r>
              <a:rPr lang="en-US" sz="3200" b="1" dirty="0">
                <a:hlinkClick r:id="rId2"/>
              </a:rPr>
              <a:t>https://lattes.cnpq.br/4218279548869478</a:t>
            </a:r>
            <a:r>
              <a:rPr lang="en-US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1326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0CFB81-89F2-7C5C-776B-52588CE87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2</a:t>
            </a:fld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D94254-9FAD-12BC-DD7D-E164C0EF2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Sumário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39F71-71C5-F1C1-8EC3-D7F5680D0A06}"/>
              </a:ext>
            </a:extLst>
          </p:cNvPr>
          <p:cNvSpPr txBox="1"/>
          <p:nvPr/>
        </p:nvSpPr>
        <p:spPr>
          <a:xfrm>
            <a:off x="204357" y="1983174"/>
            <a:ext cx="11915273" cy="45243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pt-BR" sz="3200" dirty="0">
                <a:solidFill>
                  <a:srgbClr val="FF0000"/>
                </a:solidFill>
              </a:rPr>
              <a:t>Modelo de Gabarito...............................................................03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3200" dirty="0">
                <a:solidFill>
                  <a:srgbClr val="FF0000"/>
                </a:solidFill>
              </a:rPr>
              <a:t>Orientações para Capturar Imagens dos Gabaritos.................04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3200" dirty="0">
                <a:solidFill>
                  <a:srgbClr val="FF0000"/>
                </a:solidFill>
              </a:rPr>
              <a:t>Endereço do Aplicativo..........................................................05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3200" dirty="0">
                <a:solidFill>
                  <a:srgbClr val="FF0000"/>
                </a:solidFill>
              </a:rPr>
              <a:t>Tela Inicial: Etapa 1................................................................06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3200" dirty="0">
                <a:solidFill>
                  <a:srgbClr val="FF0000"/>
                </a:solidFill>
              </a:rPr>
              <a:t>Tela Inicial: Etapa 2................................................................07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3200" dirty="0">
                <a:solidFill>
                  <a:srgbClr val="FF0000"/>
                </a:solidFill>
              </a:rPr>
              <a:t>Tela Inicial: Etapas 3 e 4.........................................................09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3200" dirty="0">
                <a:solidFill>
                  <a:srgbClr val="FF0000"/>
                </a:solidFill>
              </a:rPr>
              <a:t>Formato da Planilha Excel.....................................................10</a:t>
            </a:r>
          </a:p>
          <a:p>
            <a:pPr marL="514350" indent="-514350" algn="just">
              <a:buFont typeface="+mj-lt"/>
              <a:buAutoNum type="arabicPeriod"/>
            </a:pPr>
            <a:endParaRPr lang="pt-BR" sz="3200" dirty="0">
              <a:solidFill>
                <a:srgbClr val="FF0000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endParaRPr lang="pt-BR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74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703AE-0F47-6606-A934-FBDEC15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Modelo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Gabarito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C9418D-6C6F-2B30-A1B3-C0F557529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3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EBA12C-F71F-525B-BA72-8C040EC67C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78" t="5805" r="3306" b="6353"/>
          <a:stretch/>
        </p:blipFill>
        <p:spPr>
          <a:xfrm>
            <a:off x="2749499" y="2225842"/>
            <a:ext cx="6693001" cy="4495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06762F-FD9A-6542-D3F4-9513868C5A01}"/>
              </a:ext>
            </a:extLst>
          </p:cNvPr>
          <p:cNvSpPr txBox="1"/>
          <p:nvPr/>
        </p:nvSpPr>
        <p:spPr>
          <a:xfrm>
            <a:off x="1456396" y="1514685"/>
            <a:ext cx="1031106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solidFill>
                  <a:srgbClr val="FF0000"/>
                </a:solidFill>
                <a:highlight>
                  <a:srgbClr val="FFFF00"/>
                </a:highlight>
              </a:rPr>
              <a:t>ATENÇÃO</a:t>
            </a:r>
            <a:r>
              <a:rPr lang="pt-BR" sz="3200" dirty="0">
                <a:solidFill>
                  <a:srgbClr val="FF0000"/>
                </a:solidFill>
              </a:rPr>
              <a:t>: Precisa dos quadradinhos pretos laterais!</a:t>
            </a:r>
          </a:p>
        </p:txBody>
      </p:sp>
    </p:spTree>
    <p:extLst>
      <p:ext uri="{BB962C8B-B14F-4D97-AF65-F5344CB8AC3E}">
        <p14:creationId xmlns:p14="http://schemas.microsoft.com/office/powerpoint/2010/main" val="151346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703AE-0F47-6606-A934-FBDEC15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Orientação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Capturar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Imagens dos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Gabaritos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866F8-3EC8-1406-6999-4FB909722203}"/>
              </a:ext>
            </a:extLst>
          </p:cNvPr>
          <p:cNvSpPr txBox="1"/>
          <p:nvPr/>
        </p:nvSpPr>
        <p:spPr>
          <a:xfrm>
            <a:off x="204357" y="1396588"/>
            <a:ext cx="11915273" cy="5509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ü"/>
            </a:pPr>
            <a:r>
              <a:rPr lang="pt-BR" sz="3200" dirty="0">
                <a:solidFill>
                  <a:srgbClr val="FF0000"/>
                </a:solidFill>
              </a:rPr>
              <a:t>Use a câmera do celular para escanear a imagens. </a:t>
            </a:r>
          </a:p>
          <a:p>
            <a:pPr algn="just"/>
            <a:r>
              <a:rPr lang="pt-BR" sz="3200" dirty="0">
                <a:solidFill>
                  <a:srgbClr val="FF0000"/>
                </a:solidFill>
                <a:highlight>
                  <a:srgbClr val="FFFF00"/>
                </a:highlight>
              </a:rPr>
              <a:t>ATENÇÃO</a:t>
            </a:r>
            <a:r>
              <a:rPr lang="pt-BR" sz="3200" dirty="0">
                <a:solidFill>
                  <a:srgbClr val="FF0000"/>
                </a:solidFill>
              </a:rPr>
              <a:t>: Há diversos apps para escaneamento. Use aquele de sua preferência.</a:t>
            </a:r>
          </a:p>
          <a:p>
            <a:pPr algn="just"/>
            <a:endParaRPr lang="pt-BR" sz="3200" dirty="0">
              <a:solidFill>
                <a:srgbClr val="FF0000"/>
              </a:solidFill>
            </a:endParaRPr>
          </a:p>
          <a:p>
            <a:pPr marL="457200" indent="-457200" algn="just">
              <a:buFont typeface="Wingdings" pitchFamily="2" charset="2"/>
              <a:buChar char="ü"/>
            </a:pPr>
            <a:r>
              <a:rPr lang="pt-BR" sz="3200" dirty="0">
                <a:solidFill>
                  <a:srgbClr val="FF0000"/>
                </a:solidFill>
              </a:rPr>
              <a:t>Nomeie cada imagem com o nome da turma seguido por </a:t>
            </a:r>
            <a:r>
              <a:rPr lang="pt-BR" sz="3200" i="1" dirty="0" err="1">
                <a:solidFill>
                  <a:srgbClr val="FF0000"/>
                </a:solidFill>
              </a:rPr>
              <a:t>underline</a:t>
            </a:r>
            <a:r>
              <a:rPr lang="pt-BR" sz="3200" dirty="0">
                <a:solidFill>
                  <a:srgbClr val="FF0000"/>
                </a:solidFill>
              </a:rPr>
              <a:t> (_) e depois pelo nome do aluno.</a:t>
            </a:r>
          </a:p>
          <a:p>
            <a:pPr algn="ctr"/>
            <a:r>
              <a:rPr lang="pt-BR" sz="3200" dirty="0">
                <a:solidFill>
                  <a:srgbClr val="FF0000"/>
                </a:solidFill>
                <a:highlight>
                  <a:srgbClr val="FFFF00"/>
                </a:highlight>
              </a:rPr>
              <a:t>Exemplo</a:t>
            </a:r>
            <a:r>
              <a:rPr lang="pt-BR" sz="3200" dirty="0">
                <a:solidFill>
                  <a:srgbClr val="FF0000"/>
                </a:solidFill>
              </a:rPr>
              <a:t>: Para a aluna Aline do 7º Ano Verde, usa-se </a:t>
            </a:r>
            <a:r>
              <a:rPr lang="pt-BR" sz="3200" b="1" dirty="0">
                <a:solidFill>
                  <a:srgbClr val="FF0000"/>
                </a:solidFill>
                <a:highlight>
                  <a:srgbClr val="00FF00"/>
                </a:highlight>
              </a:rPr>
              <a:t>7Verde_Aline.png</a:t>
            </a:r>
          </a:p>
          <a:p>
            <a:pPr algn="ctr"/>
            <a:endParaRPr lang="pt-BR" sz="3200" b="1" dirty="0">
              <a:solidFill>
                <a:srgbClr val="FF0000"/>
              </a:solidFill>
              <a:highlight>
                <a:srgbClr val="00FF00"/>
              </a:highlight>
            </a:endParaRPr>
          </a:p>
          <a:p>
            <a:pPr marL="457200" indent="-457200" algn="just">
              <a:buFont typeface="Wingdings" pitchFamily="2" charset="2"/>
              <a:buChar char="ü"/>
            </a:pPr>
            <a:r>
              <a:rPr lang="pt-BR" sz="3200" dirty="0">
                <a:solidFill>
                  <a:srgbClr val="FF0000"/>
                </a:solidFill>
              </a:rPr>
              <a:t>Junte todas as imagens em uma pasta que você possa acessar pelo aplicativo.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C9418D-6C6F-2B30-A1B3-C0F557529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23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703AE-0F47-6606-A934-FBDEC15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Endereço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Aplicativo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08C30-1AFF-C588-BCAC-6A1544E49159}"/>
              </a:ext>
            </a:extLst>
          </p:cNvPr>
          <p:cNvSpPr txBox="1"/>
          <p:nvPr/>
        </p:nvSpPr>
        <p:spPr>
          <a:xfrm>
            <a:off x="404596" y="3883018"/>
            <a:ext cx="1151479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err="1">
                <a:solidFill>
                  <a:srgbClr val="0070C0"/>
                </a:solidFill>
                <a:highlight>
                  <a:srgbClr val="00FF00"/>
                </a:highlight>
              </a:rPr>
              <a:t>omr</a:t>
            </a:r>
            <a:r>
              <a:rPr lang="pt-BR" sz="3200" b="1" dirty="0">
                <a:solidFill>
                  <a:srgbClr val="0070C0"/>
                </a:solidFill>
                <a:highlight>
                  <a:srgbClr val="00FF00"/>
                </a:highlight>
              </a:rPr>
              <a:t>-</a:t>
            </a:r>
            <a:r>
              <a:rPr lang="pt-BR" sz="3200" b="1" dirty="0" err="1">
                <a:solidFill>
                  <a:srgbClr val="0070C0"/>
                </a:solidFill>
                <a:highlight>
                  <a:srgbClr val="00FF00"/>
                </a:highlight>
              </a:rPr>
              <a:t>raphaelalvim</a:t>
            </a:r>
            <a:r>
              <a:rPr lang="pt-BR" sz="3200" b="1" dirty="0">
                <a:solidFill>
                  <a:srgbClr val="0070C0"/>
                </a:solidFill>
                <a:highlight>
                  <a:srgbClr val="00FF00"/>
                </a:highlight>
              </a:rPr>
              <a:t>-</a:t>
            </a:r>
            <a:r>
              <a:rPr lang="pt-BR" sz="3200" b="1" dirty="0" err="1">
                <a:solidFill>
                  <a:srgbClr val="0070C0"/>
                </a:solidFill>
                <a:highlight>
                  <a:srgbClr val="00FF00"/>
                </a:highlight>
              </a:rPr>
              <a:t>correcao</a:t>
            </a:r>
            <a:r>
              <a:rPr lang="pt-BR" sz="3200" b="1" dirty="0">
                <a:solidFill>
                  <a:srgbClr val="0070C0"/>
                </a:solidFill>
                <a:highlight>
                  <a:srgbClr val="00FF00"/>
                </a:highlight>
              </a:rPr>
              <a:t>-gabarito-</a:t>
            </a:r>
            <a:r>
              <a:rPr lang="pt-BR" sz="3200" b="1" dirty="0" err="1">
                <a:solidFill>
                  <a:srgbClr val="0070C0"/>
                </a:solidFill>
                <a:highlight>
                  <a:srgbClr val="00FF00"/>
                </a:highlight>
              </a:rPr>
              <a:t>provas.streamlit.app</a:t>
            </a:r>
            <a:r>
              <a:rPr lang="pt-BR" sz="3200" b="1" dirty="0">
                <a:solidFill>
                  <a:srgbClr val="0070C0"/>
                </a:solidFill>
                <a:highlight>
                  <a:srgbClr val="00FF00"/>
                </a:highlight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866F8-3EC8-1406-6999-4FB909722203}"/>
              </a:ext>
            </a:extLst>
          </p:cNvPr>
          <p:cNvSpPr txBox="1"/>
          <p:nvPr/>
        </p:nvSpPr>
        <p:spPr>
          <a:xfrm>
            <a:off x="260504" y="1761003"/>
            <a:ext cx="11802979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ü"/>
            </a:pPr>
            <a:r>
              <a:rPr lang="pt-BR" sz="3200" dirty="0">
                <a:solidFill>
                  <a:srgbClr val="FF0000"/>
                </a:solidFill>
              </a:rPr>
              <a:t>Digite no navegador do seu dispositivo eletrônico (smartphone, notebook, tablet, </a:t>
            </a:r>
            <a:r>
              <a:rPr lang="pt-BR" sz="3200" dirty="0" err="1">
                <a:solidFill>
                  <a:srgbClr val="FF0000"/>
                </a:solidFill>
              </a:rPr>
              <a:t>etc</a:t>
            </a:r>
            <a:r>
              <a:rPr lang="pt-BR" sz="3200" dirty="0">
                <a:solidFill>
                  <a:srgbClr val="FF0000"/>
                </a:solidFill>
              </a:rPr>
              <a:t>) o endereço eletrônico abaixo: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7B98BB-06C6-1960-50DA-2FABE951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166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703AE-0F47-6606-A934-FBDEC15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Tela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Inicial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Etapa 1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27E4D39-4F7D-6A91-CE8E-F52AF2066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719327"/>
            <a:ext cx="10905066" cy="335330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D3AEBC93-3467-6B87-805F-0A010E7A5156}"/>
              </a:ext>
            </a:extLst>
          </p:cNvPr>
          <p:cNvSpPr/>
          <p:nvPr/>
        </p:nvSpPr>
        <p:spPr>
          <a:xfrm rot="1910578">
            <a:off x="1657584" y="2188831"/>
            <a:ext cx="311092" cy="221234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08C30-1AFF-C588-BCAC-6A1544E49159}"/>
              </a:ext>
            </a:extLst>
          </p:cNvPr>
          <p:cNvSpPr txBox="1"/>
          <p:nvPr/>
        </p:nvSpPr>
        <p:spPr>
          <a:xfrm>
            <a:off x="2293725" y="1500766"/>
            <a:ext cx="598400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Preencha com o seu gabarito oficial.</a:t>
            </a:r>
          </a:p>
          <a:p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ATENÇÃO</a:t>
            </a:r>
            <a:r>
              <a:rPr lang="pt-BR" dirty="0">
                <a:solidFill>
                  <a:srgbClr val="FF0000"/>
                </a:solidFill>
              </a:rPr>
              <a:t>: use a quantidade de 1 a 40, pois o sistema só detecta até 40 questões.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8BF96030-33A9-817A-F020-281A9AED35BC}"/>
              </a:ext>
            </a:extLst>
          </p:cNvPr>
          <p:cNvSpPr/>
          <p:nvPr/>
        </p:nvSpPr>
        <p:spPr>
          <a:xfrm rot="7279619">
            <a:off x="9035892" y="5422258"/>
            <a:ext cx="311092" cy="90465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88AD9-DBFC-7E31-6DF6-8AB0AB266E9F}"/>
              </a:ext>
            </a:extLst>
          </p:cNvPr>
          <p:cNvSpPr txBox="1"/>
          <p:nvPr/>
        </p:nvSpPr>
        <p:spPr>
          <a:xfrm>
            <a:off x="7688179" y="6195546"/>
            <a:ext cx="371775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Busque pelas imagens das provas. </a:t>
            </a:r>
          </a:p>
          <a:p>
            <a:r>
              <a:rPr lang="pt-BR" dirty="0">
                <a:solidFill>
                  <a:srgbClr val="FF0000"/>
                </a:solidFill>
              </a:rPr>
              <a:t>Selecione várias ao mesmo tempo!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B5B76B-0FC8-77FC-39BE-3C3E9BF9F0AB}"/>
              </a:ext>
            </a:extLst>
          </p:cNvPr>
          <p:cNvSpPr/>
          <p:nvPr/>
        </p:nvSpPr>
        <p:spPr>
          <a:xfrm>
            <a:off x="5041232" y="5209672"/>
            <a:ext cx="1780673" cy="6167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C49CA22C-9B25-2D06-BE0D-B9B36FE80360}"/>
              </a:ext>
            </a:extLst>
          </p:cNvPr>
          <p:cNvSpPr/>
          <p:nvPr/>
        </p:nvSpPr>
        <p:spPr>
          <a:xfrm rot="12465575">
            <a:off x="4950894" y="5697875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58251-51C9-2D0C-68CA-6D52A1A2A678}"/>
              </a:ext>
            </a:extLst>
          </p:cNvPr>
          <p:cNvSpPr txBox="1"/>
          <p:nvPr/>
        </p:nvSpPr>
        <p:spPr>
          <a:xfrm>
            <a:off x="3209061" y="6278157"/>
            <a:ext cx="415333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ATENÇÃO</a:t>
            </a:r>
            <a:r>
              <a:rPr lang="pt-BR" dirty="0">
                <a:solidFill>
                  <a:srgbClr val="FF0000"/>
                </a:solidFill>
              </a:rPr>
              <a:t>: Há um limite de 200MB e os tipos de imagens PNG, JPG, JPEG.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09C0416-C0B9-CDE8-A101-51241116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376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703AE-0F47-6606-A934-FBDEC15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Tela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Inicial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Etapa 2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3F5DA79-CE58-7287-573B-94F76F79D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53" y="1500214"/>
            <a:ext cx="10855493" cy="4714319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BC9FBE64-24A6-2B1A-D05D-CE1A029866ED}"/>
              </a:ext>
            </a:extLst>
          </p:cNvPr>
          <p:cNvSpPr/>
          <p:nvPr/>
        </p:nvSpPr>
        <p:spPr>
          <a:xfrm rot="14464043">
            <a:off x="4529789" y="5726893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DD9A6-3CF2-2DA6-0492-8BF2B59EF984}"/>
              </a:ext>
            </a:extLst>
          </p:cNvPr>
          <p:cNvSpPr txBox="1"/>
          <p:nvPr/>
        </p:nvSpPr>
        <p:spPr>
          <a:xfrm>
            <a:off x="1275346" y="6260725"/>
            <a:ext cx="366869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Após o carregamento das imagens, clique em “Corrigi todas”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BE0F79-763D-7DDC-FC79-7ACD6818C674}"/>
              </a:ext>
            </a:extLst>
          </p:cNvPr>
          <p:cNvSpPr/>
          <p:nvPr/>
        </p:nvSpPr>
        <p:spPr>
          <a:xfrm>
            <a:off x="4643253" y="4092279"/>
            <a:ext cx="4621062" cy="126550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60C820EB-B2E6-CB22-55F4-6A8C4C7EEF93}"/>
              </a:ext>
            </a:extLst>
          </p:cNvPr>
          <p:cNvSpPr/>
          <p:nvPr/>
        </p:nvSpPr>
        <p:spPr>
          <a:xfrm rot="7870037">
            <a:off x="8962284" y="5101419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619901-5516-1A5D-8A30-01241FCFB03E}"/>
              </a:ext>
            </a:extLst>
          </p:cNvPr>
          <p:cNvSpPr txBox="1"/>
          <p:nvPr/>
        </p:nvSpPr>
        <p:spPr>
          <a:xfrm>
            <a:off x="8299338" y="5627318"/>
            <a:ext cx="322440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Espere até o carregamento completo!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EA1CAE4-2F74-718E-CC74-9FBF906A3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329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703AE-0F47-6606-A934-FBDEC15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Tela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Inicial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Etapa </a:t>
            </a:r>
            <a:r>
              <a:rPr lang="en-US" sz="3200" b="1" dirty="0">
                <a:solidFill>
                  <a:schemeClr val="bg1"/>
                </a:solidFill>
              </a:rPr>
              <a:t>2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46A3930-1923-D573-6134-A8BD37D59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32" y="1512244"/>
            <a:ext cx="11709735" cy="5097613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8B33A1AE-E176-A67C-8B6E-83EC65802FE5}"/>
              </a:ext>
            </a:extLst>
          </p:cNvPr>
          <p:cNvSpPr/>
          <p:nvPr/>
        </p:nvSpPr>
        <p:spPr>
          <a:xfrm>
            <a:off x="4739506" y="5929224"/>
            <a:ext cx="1565042" cy="8045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8919B556-2377-3725-9722-E6CAE02C0D6E}"/>
              </a:ext>
            </a:extLst>
          </p:cNvPr>
          <p:cNvSpPr/>
          <p:nvPr/>
        </p:nvSpPr>
        <p:spPr>
          <a:xfrm rot="16992421">
            <a:off x="4244361" y="5990940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9E56F4-9AFB-52BE-7257-1499EC21001F}"/>
              </a:ext>
            </a:extLst>
          </p:cNvPr>
          <p:cNvSpPr txBox="1"/>
          <p:nvPr/>
        </p:nvSpPr>
        <p:spPr>
          <a:xfrm>
            <a:off x="919128" y="5963526"/>
            <a:ext cx="315227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Mensagem após a etapa 2 ser concluída com sucesso.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210B754-6F27-5F01-64D5-B39CB911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417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703AE-0F47-6606-A934-FBDEC15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Tela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Inicial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Etapas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3 e 4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3DFA63D-D398-7C4B-F589-892341230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82" y="1501586"/>
            <a:ext cx="10812236" cy="5128153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9AAC668-409D-A96C-86F1-E6E99259D83C}"/>
              </a:ext>
            </a:extLst>
          </p:cNvPr>
          <p:cNvSpPr/>
          <p:nvPr/>
        </p:nvSpPr>
        <p:spPr>
          <a:xfrm>
            <a:off x="4090738" y="3056552"/>
            <a:ext cx="5751094" cy="27426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0B382E0-458F-4A47-936C-3B1BF6395001}"/>
              </a:ext>
            </a:extLst>
          </p:cNvPr>
          <p:cNvSpPr/>
          <p:nvPr/>
        </p:nvSpPr>
        <p:spPr>
          <a:xfrm rot="15062277">
            <a:off x="3589274" y="4364156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BF2CF-ED81-561E-8939-5F42C53429CE}"/>
              </a:ext>
            </a:extLst>
          </p:cNvPr>
          <p:cNvSpPr txBox="1"/>
          <p:nvPr/>
        </p:nvSpPr>
        <p:spPr>
          <a:xfrm>
            <a:off x="689882" y="4904747"/>
            <a:ext cx="3152275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Resultados são apresentados na tela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ou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Podem ser baixados em formato de planilha Excel.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B673CF07-EA6B-160A-4529-12F06DBFE6E6}"/>
              </a:ext>
            </a:extLst>
          </p:cNvPr>
          <p:cNvSpPr/>
          <p:nvPr/>
        </p:nvSpPr>
        <p:spPr>
          <a:xfrm rot="16200000">
            <a:off x="4038412" y="5700954"/>
            <a:ext cx="311092" cy="15901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62818FE-F1A2-55D2-D274-0FB489DC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462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703AE-0F47-6606-A934-FBDEC15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Formato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da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Planilha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Excel</a:t>
            </a:r>
          </a:p>
        </p:txBody>
      </p:sp>
      <p:pic>
        <p:nvPicPr>
          <p:cNvPr id="6" name="Picture 5" descr="A screenshot of a spreadsheet&#10;&#10;Description automatically generated">
            <a:extLst>
              <a:ext uri="{FF2B5EF4-FFF2-40B4-BE49-F238E27FC236}">
                <a16:creationId xmlns:a16="http://schemas.microsoft.com/office/drawing/2014/main" id="{842F1C6A-5AB1-3CE6-4360-77773272E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6" y="3933857"/>
            <a:ext cx="12132887" cy="254453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55DEFF48-C5E6-D3BC-C40F-3AA272843002}"/>
              </a:ext>
            </a:extLst>
          </p:cNvPr>
          <p:cNvSpPr/>
          <p:nvPr/>
        </p:nvSpPr>
        <p:spPr>
          <a:xfrm>
            <a:off x="264011" y="3249082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1727F494-72A3-AB4F-81E3-B9B960B36CF4}"/>
              </a:ext>
            </a:extLst>
          </p:cNvPr>
          <p:cNvSpPr/>
          <p:nvPr/>
        </p:nvSpPr>
        <p:spPr>
          <a:xfrm>
            <a:off x="693137" y="3255142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DB1B729F-C8EC-CC5D-C3A9-8B31B37E124F}"/>
              </a:ext>
            </a:extLst>
          </p:cNvPr>
          <p:cNvSpPr/>
          <p:nvPr/>
        </p:nvSpPr>
        <p:spPr>
          <a:xfrm>
            <a:off x="1615558" y="3279147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171EB1AF-4F4A-8174-126C-9D4BE6BA6F66}"/>
              </a:ext>
            </a:extLst>
          </p:cNvPr>
          <p:cNvSpPr/>
          <p:nvPr/>
        </p:nvSpPr>
        <p:spPr>
          <a:xfrm>
            <a:off x="2537979" y="3279147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771A57F0-D290-BFC8-C44A-8D86EF1651CA}"/>
              </a:ext>
            </a:extLst>
          </p:cNvPr>
          <p:cNvSpPr/>
          <p:nvPr/>
        </p:nvSpPr>
        <p:spPr>
          <a:xfrm>
            <a:off x="3053053" y="3294179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D13E8D6F-BA11-9ADA-6366-2A018FA31E8A}"/>
              </a:ext>
            </a:extLst>
          </p:cNvPr>
          <p:cNvSpPr/>
          <p:nvPr/>
        </p:nvSpPr>
        <p:spPr>
          <a:xfrm>
            <a:off x="3568127" y="3301695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3DF8DBEB-37D5-8E01-0426-7B53A5F376C5}"/>
              </a:ext>
            </a:extLst>
          </p:cNvPr>
          <p:cNvSpPr/>
          <p:nvPr/>
        </p:nvSpPr>
        <p:spPr>
          <a:xfrm>
            <a:off x="4634927" y="3279147"/>
            <a:ext cx="311092" cy="62464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E385CA91-0CF4-111D-A304-31538C5DC5B1}"/>
              </a:ext>
            </a:extLst>
          </p:cNvPr>
          <p:cNvSpPr/>
          <p:nvPr/>
        </p:nvSpPr>
        <p:spPr>
          <a:xfrm rot="16200000">
            <a:off x="8633547" y="374895"/>
            <a:ext cx="443343" cy="6614452"/>
          </a:xfrm>
          <a:prstGeom prst="rightBrace">
            <a:avLst>
              <a:gd name="adj1" fmla="val 49040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4412D9-3D22-B2B1-4DB0-7825261B18DD}"/>
              </a:ext>
            </a:extLst>
          </p:cNvPr>
          <p:cNvSpPr txBox="1"/>
          <p:nvPr/>
        </p:nvSpPr>
        <p:spPr>
          <a:xfrm rot="18809917">
            <a:off x="99331" y="2672191"/>
            <a:ext cx="8552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Turma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3FCF19-DE06-9288-61F2-223937E8BA10}"/>
              </a:ext>
            </a:extLst>
          </p:cNvPr>
          <p:cNvSpPr txBox="1"/>
          <p:nvPr/>
        </p:nvSpPr>
        <p:spPr>
          <a:xfrm rot="18809917">
            <a:off x="443671" y="2339371"/>
            <a:ext cx="17729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Nome do aluno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06FDBE-7430-ECAA-32EE-9B514D415371}"/>
              </a:ext>
            </a:extLst>
          </p:cNvPr>
          <p:cNvSpPr txBox="1"/>
          <p:nvPr/>
        </p:nvSpPr>
        <p:spPr>
          <a:xfrm rot="18809917">
            <a:off x="1353660" y="2280442"/>
            <a:ext cx="19968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Nome da imagem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D5C426-8535-70E2-76EC-C22F67ED575E}"/>
              </a:ext>
            </a:extLst>
          </p:cNvPr>
          <p:cNvSpPr txBox="1"/>
          <p:nvPr/>
        </p:nvSpPr>
        <p:spPr>
          <a:xfrm rot="18809917">
            <a:off x="2288664" y="2295475"/>
            <a:ext cx="19968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Nota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8A929D-E295-1B46-BA53-F8DB228817C6}"/>
              </a:ext>
            </a:extLst>
          </p:cNvPr>
          <p:cNvSpPr txBox="1"/>
          <p:nvPr/>
        </p:nvSpPr>
        <p:spPr>
          <a:xfrm rot="18809917">
            <a:off x="2649367" y="1940365"/>
            <a:ext cx="29594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Percentual de acertos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9986FB-7C60-E443-50F0-82D4238949A7}"/>
              </a:ext>
            </a:extLst>
          </p:cNvPr>
          <p:cNvSpPr txBox="1"/>
          <p:nvPr/>
        </p:nvSpPr>
        <p:spPr>
          <a:xfrm rot="18809917">
            <a:off x="3380512" y="2303187"/>
            <a:ext cx="219697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Número de acertos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70C171-3C26-4E9D-090E-58D61ABF7636}"/>
              </a:ext>
            </a:extLst>
          </p:cNvPr>
          <p:cNvSpPr txBox="1"/>
          <p:nvPr/>
        </p:nvSpPr>
        <p:spPr>
          <a:xfrm rot="18809917">
            <a:off x="4364379" y="2222886"/>
            <a:ext cx="219697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Questões erradas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D290CD-5C2C-DC71-7C23-05774A3B5E17}"/>
              </a:ext>
            </a:extLst>
          </p:cNvPr>
          <p:cNvSpPr txBox="1"/>
          <p:nvPr/>
        </p:nvSpPr>
        <p:spPr>
          <a:xfrm>
            <a:off x="6943294" y="3005406"/>
            <a:ext cx="400674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Resposta de cada questão por aluno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D93B9A7-DA2C-3F3D-06CC-08CFBEEF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A31E-AEA3-3249-80D4-38AF39D7254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76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352</Words>
  <Application>Microsoft Macintosh PowerPoint</Application>
  <PresentationFormat>Widescreen</PresentationFormat>
  <Paragraphs>63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PowerPoint Presentation</vt:lpstr>
      <vt:lpstr>Sumário</vt:lpstr>
      <vt:lpstr>Modelo de Gabarito</vt:lpstr>
      <vt:lpstr>Orientação para Capturar Imagens dos Gabaritos  </vt:lpstr>
      <vt:lpstr>Endereço do Aplicativo</vt:lpstr>
      <vt:lpstr>Tela Inicial: Etapa 1</vt:lpstr>
      <vt:lpstr>Tela Inicial: Etapa 2</vt:lpstr>
      <vt:lpstr>Tela Inicial: Etapa 2</vt:lpstr>
      <vt:lpstr>Tela Inicial: Etapas 3 e 4</vt:lpstr>
      <vt:lpstr>Formato da Planilha Excel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1151629</dc:creator>
  <cp:lastModifiedBy>1151629</cp:lastModifiedBy>
  <cp:revision>24</cp:revision>
  <cp:lastPrinted>2026-03-07T23:17:45Z</cp:lastPrinted>
  <dcterms:created xsi:type="dcterms:W3CDTF">2026-03-07T22:23:21Z</dcterms:created>
  <dcterms:modified xsi:type="dcterms:W3CDTF">2026-03-07T23:19:29Z</dcterms:modified>
</cp:coreProperties>
</file>